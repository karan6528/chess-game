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8688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457200" y="128016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 Chess Challenge ♟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7BC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Modern 2D Chess Game Built for the Hackathon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3611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146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457200" y="3611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 Hackathon 2026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3132" y="431174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  ·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B9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KARAN LODHA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B9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 NAIEF ABDUL KAREEM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B9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ROSEMARRIE EXILE</a:t>
            </a:r>
          </a:p>
          <a:p>
            <a:endParaRPr lang="en-US" sz="1200" dirty="0">
              <a:solidFill>
                <a:srgbClr val="B9D9C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B9D9C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937760" y="7315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5394960" y="7315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5852160" y="7315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6309360" y="7315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766560" y="7315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7223760" y="7315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7680960" y="7315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8138160" y="7315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4937760" y="11887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5394960" y="11887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852160" y="11887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6309360" y="11887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766560" y="11887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7223760" y="11887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7680960" y="11887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8138160" y="11887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937760" y="16459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5394960" y="16459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5852160" y="16459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6309360" y="16459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6766560" y="16459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7680960" y="16459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8138160" y="16459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4937760" y="21031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5394960" y="21031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5852160" y="21031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6309360" y="21031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6766560" y="21031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7680960" y="21031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8138160" y="21031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4937760" y="25603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5394960" y="25603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Shape 41"/>
          <p:cNvSpPr/>
          <p:nvPr/>
        </p:nvSpPr>
        <p:spPr>
          <a:xfrm>
            <a:off x="5852160" y="25603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6309360" y="25603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6766560" y="25603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7680960" y="25603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8138160" y="25603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4937760" y="30175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5394960" y="30175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5852160" y="30175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Shape 50"/>
          <p:cNvSpPr/>
          <p:nvPr/>
        </p:nvSpPr>
        <p:spPr>
          <a:xfrm>
            <a:off x="6309360" y="30175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6766560" y="30175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Shape 52"/>
          <p:cNvSpPr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5" name="Shape 53"/>
          <p:cNvSpPr/>
          <p:nvPr/>
        </p:nvSpPr>
        <p:spPr>
          <a:xfrm>
            <a:off x="7680960" y="30175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Shape 54"/>
          <p:cNvSpPr/>
          <p:nvPr/>
        </p:nvSpPr>
        <p:spPr>
          <a:xfrm>
            <a:off x="8138160" y="30175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Shape 55"/>
          <p:cNvSpPr/>
          <p:nvPr/>
        </p:nvSpPr>
        <p:spPr>
          <a:xfrm>
            <a:off x="4937760" y="34747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5394960" y="34747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5852160" y="34747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6309360" y="34747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Shape 59"/>
          <p:cNvSpPr/>
          <p:nvPr/>
        </p:nvSpPr>
        <p:spPr>
          <a:xfrm>
            <a:off x="6766560" y="34747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60"/>
          <p:cNvSpPr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Shape 61"/>
          <p:cNvSpPr/>
          <p:nvPr/>
        </p:nvSpPr>
        <p:spPr>
          <a:xfrm>
            <a:off x="7680960" y="34747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Shape 62"/>
          <p:cNvSpPr/>
          <p:nvPr/>
        </p:nvSpPr>
        <p:spPr>
          <a:xfrm>
            <a:off x="8138160" y="34747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4937760" y="39319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Shape 64"/>
          <p:cNvSpPr/>
          <p:nvPr/>
        </p:nvSpPr>
        <p:spPr>
          <a:xfrm>
            <a:off x="5394960" y="39319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7" name="Shape 65"/>
          <p:cNvSpPr/>
          <p:nvPr/>
        </p:nvSpPr>
        <p:spPr>
          <a:xfrm>
            <a:off x="5852160" y="39319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Shape 66"/>
          <p:cNvSpPr/>
          <p:nvPr/>
        </p:nvSpPr>
        <p:spPr>
          <a:xfrm>
            <a:off x="6309360" y="39319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9" name="Shape 67"/>
          <p:cNvSpPr/>
          <p:nvPr/>
        </p:nvSpPr>
        <p:spPr>
          <a:xfrm>
            <a:off x="6766560" y="39319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7680960" y="3931920"/>
            <a:ext cx="457200" cy="45720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Shape 70"/>
          <p:cNvSpPr/>
          <p:nvPr/>
        </p:nvSpPr>
        <p:spPr>
          <a:xfrm>
            <a:off x="8138160" y="3931920"/>
            <a:ext cx="457200" cy="457200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 txBox="1"/>
          <p:nvPr/>
        </p:nvSpPr>
        <p:spPr>
          <a:xfrm>
            <a:off x="4937760" y="731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♜</a:t>
            </a:r>
            <a:endParaRPr lang="en-US" sz="2200" dirty="0"/>
          </a:p>
        </p:txBody>
      </p:sp>
      <p:sp>
        <p:nvSpPr>
          <p:cNvPr id="74" name="Text 72"/>
          <p:cNvSpPr txBox="1"/>
          <p:nvPr/>
        </p:nvSpPr>
        <p:spPr>
          <a:xfrm>
            <a:off x="5394960" y="731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♞</a:t>
            </a:r>
            <a:endParaRPr lang="en-US" sz="2200" dirty="0"/>
          </a:p>
        </p:txBody>
      </p:sp>
      <p:sp>
        <p:nvSpPr>
          <p:cNvPr id="75" name="Text 73"/>
          <p:cNvSpPr txBox="1"/>
          <p:nvPr/>
        </p:nvSpPr>
        <p:spPr>
          <a:xfrm>
            <a:off x="5852160" y="731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♝</a:t>
            </a:r>
            <a:endParaRPr lang="en-US" sz="2200" dirty="0"/>
          </a:p>
        </p:txBody>
      </p:sp>
      <p:sp>
        <p:nvSpPr>
          <p:cNvPr id="76" name="Text 74"/>
          <p:cNvSpPr txBox="1"/>
          <p:nvPr/>
        </p:nvSpPr>
        <p:spPr>
          <a:xfrm>
            <a:off x="6309360" y="731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♛</a:t>
            </a:r>
            <a:endParaRPr lang="en-US" sz="2200" dirty="0"/>
          </a:p>
        </p:txBody>
      </p:sp>
      <p:sp>
        <p:nvSpPr>
          <p:cNvPr id="77" name="Text 75"/>
          <p:cNvSpPr txBox="1"/>
          <p:nvPr/>
        </p:nvSpPr>
        <p:spPr>
          <a:xfrm>
            <a:off x="6766560" y="731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♚</a:t>
            </a:r>
            <a:endParaRPr lang="en-US" sz="2200" dirty="0"/>
          </a:p>
        </p:txBody>
      </p:sp>
      <p:sp>
        <p:nvSpPr>
          <p:cNvPr id="78" name="Text 76"/>
          <p:cNvSpPr txBox="1"/>
          <p:nvPr/>
        </p:nvSpPr>
        <p:spPr>
          <a:xfrm>
            <a:off x="7223760" y="731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♝</a:t>
            </a:r>
            <a:endParaRPr lang="en-US" sz="2200" dirty="0"/>
          </a:p>
        </p:txBody>
      </p:sp>
      <p:sp>
        <p:nvSpPr>
          <p:cNvPr id="79" name="Text 77"/>
          <p:cNvSpPr txBox="1"/>
          <p:nvPr/>
        </p:nvSpPr>
        <p:spPr>
          <a:xfrm>
            <a:off x="7680960" y="731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♞</a:t>
            </a:r>
            <a:endParaRPr lang="en-US" sz="2200" dirty="0"/>
          </a:p>
        </p:txBody>
      </p:sp>
      <p:sp>
        <p:nvSpPr>
          <p:cNvPr id="80" name="Text 78"/>
          <p:cNvSpPr txBox="1"/>
          <p:nvPr/>
        </p:nvSpPr>
        <p:spPr>
          <a:xfrm>
            <a:off x="8138160" y="731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♜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49377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3949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8521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63093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200" dirty="0"/>
          </a:p>
        </p:txBody>
      </p:sp>
      <p:sp>
        <p:nvSpPr>
          <p:cNvPr id="85" name="Text 83"/>
          <p:cNvSpPr txBox="1"/>
          <p:nvPr/>
        </p:nvSpPr>
        <p:spPr>
          <a:xfrm>
            <a:off x="67665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200" dirty="0"/>
          </a:p>
        </p:txBody>
      </p:sp>
      <p:sp>
        <p:nvSpPr>
          <p:cNvPr id="86" name="Text 84"/>
          <p:cNvSpPr txBox="1"/>
          <p:nvPr/>
        </p:nvSpPr>
        <p:spPr>
          <a:xfrm>
            <a:off x="72237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200" dirty="0"/>
          </a:p>
        </p:txBody>
      </p:sp>
      <p:sp>
        <p:nvSpPr>
          <p:cNvPr id="87" name="Text 85"/>
          <p:cNvSpPr txBox="1"/>
          <p:nvPr/>
        </p:nvSpPr>
        <p:spPr>
          <a:xfrm>
            <a:off x="76809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200" dirty="0"/>
          </a:p>
        </p:txBody>
      </p:sp>
      <p:sp>
        <p:nvSpPr>
          <p:cNvPr id="88" name="Text 86"/>
          <p:cNvSpPr txBox="1"/>
          <p:nvPr/>
        </p:nvSpPr>
        <p:spPr>
          <a:xfrm>
            <a:off x="81381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200" dirty="0"/>
          </a:p>
        </p:txBody>
      </p:sp>
      <p:sp>
        <p:nvSpPr>
          <p:cNvPr id="89" name="Text 87"/>
          <p:cNvSpPr txBox="1"/>
          <p:nvPr/>
        </p:nvSpPr>
        <p:spPr>
          <a:xfrm>
            <a:off x="4937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200" dirty="0"/>
          </a:p>
        </p:txBody>
      </p:sp>
      <p:sp>
        <p:nvSpPr>
          <p:cNvPr id="90" name="Text 88"/>
          <p:cNvSpPr txBox="1"/>
          <p:nvPr/>
        </p:nvSpPr>
        <p:spPr>
          <a:xfrm>
            <a:off x="53949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200" dirty="0"/>
          </a:p>
        </p:txBody>
      </p:sp>
      <p:sp>
        <p:nvSpPr>
          <p:cNvPr id="91" name="Text 89"/>
          <p:cNvSpPr txBox="1"/>
          <p:nvPr/>
        </p:nvSpPr>
        <p:spPr>
          <a:xfrm>
            <a:off x="58521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200" dirty="0"/>
          </a:p>
        </p:txBody>
      </p:sp>
      <p:sp>
        <p:nvSpPr>
          <p:cNvPr id="92" name="Text 90"/>
          <p:cNvSpPr txBox="1"/>
          <p:nvPr/>
        </p:nvSpPr>
        <p:spPr>
          <a:xfrm>
            <a:off x="63093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200" dirty="0"/>
          </a:p>
        </p:txBody>
      </p:sp>
      <p:sp>
        <p:nvSpPr>
          <p:cNvPr id="93" name="Text 91"/>
          <p:cNvSpPr txBox="1"/>
          <p:nvPr/>
        </p:nvSpPr>
        <p:spPr>
          <a:xfrm>
            <a:off x="67665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200" dirty="0"/>
          </a:p>
        </p:txBody>
      </p:sp>
      <p:sp>
        <p:nvSpPr>
          <p:cNvPr id="94" name="Text 9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200" dirty="0"/>
          </a:p>
        </p:txBody>
      </p:sp>
      <p:sp>
        <p:nvSpPr>
          <p:cNvPr id="95" name="Text 93"/>
          <p:cNvSpPr txBox="1"/>
          <p:nvPr/>
        </p:nvSpPr>
        <p:spPr>
          <a:xfrm>
            <a:off x="76809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200" dirty="0"/>
          </a:p>
        </p:txBody>
      </p:sp>
      <p:sp>
        <p:nvSpPr>
          <p:cNvPr id="96" name="Text 94"/>
          <p:cNvSpPr txBox="1"/>
          <p:nvPr/>
        </p:nvSpPr>
        <p:spPr>
          <a:xfrm>
            <a:off x="81381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200" dirty="0"/>
          </a:p>
        </p:txBody>
      </p:sp>
      <p:sp>
        <p:nvSpPr>
          <p:cNvPr id="97" name="Text 95"/>
          <p:cNvSpPr txBox="1"/>
          <p:nvPr/>
        </p:nvSpPr>
        <p:spPr>
          <a:xfrm>
            <a:off x="4937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♜</a:t>
            </a:r>
            <a:endParaRPr lang="en-US" sz="2200" dirty="0"/>
          </a:p>
        </p:txBody>
      </p:sp>
      <p:sp>
        <p:nvSpPr>
          <p:cNvPr id="98" name="Text 96"/>
          <p:cNvSpPr txBox="1"/>
          <p:nvPr/>
        </p:nvSpPr>
        <p:spPr>
          <a:xfrm>
            <a:off x="53949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♞</a:t>
            </a:r>
            <a:endParaRPr lang="en-US" sz="2200" dirty="0"/>
          </a:p>
        </p:txBody>
      </p:sp>
      <p:sp>
        <p:nvSpPr>
          <p:cNvPr id="99" name="Text 97"/>
          <p:cNvSpPr txBox="1"/>
          <p:nvPr/>
        </p:nvSpPr>
        <p:spPr>
          <a:xfrm>
            <a:off x="58521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♝</a:t>
            </a:r>
            <a:endParaRPr lang="en-US" sz="2200" dirty="0"/>
          </a:p>
        </p:txBody>
      </p:sp>
      <p:sp>
        <p:nvSpPr>
          <p:cNvPr id="100" name="Text 98"/>
          <p:cNvSpPr txBox="1"/>
          <p:nvPr/>
        </p:nvSpPr>
        <p:spPr>
          <a:xfrm>
            <a:off x="63093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♛</a:t>
            </a:r>
            <a:endParaRPr lang="en-US" sz="2200" dirty="0"/>
          </a:p>
        </p:txBody>
      </p:sp>
      <p:sp>
        <p:nvSpPr>
          <p:cNvPr id="101" name="Text 99"/>
          <p:cNvSpPr txBox="1"/>
          <p:nvPr/>
        </p:nvSpPr>
        <p:spPr>
          <a:xfrm>
            <a:off x="67665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♚</a:t>
            </a:r>
            <a:endParaRPr lang="en-US" sz="2200" dirty="0"/>
          </a:p>
        </p:txBody>
      </p:sp>
      <p:sp>
        <p:nvSpPr>
          <p:cNvPr id="102" name="Text 100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♝</a:t>
            </a:r>
            <a:endParaRPr lang="en-US" sz="2200" dirty="0"/>
          </a:p>
        </p:txBody>
      </p:sp>
      <p:sp>
        <p:nvSpPr>
          <p:cNvPr id="103" name="Text 101"/>
          <p:cNvSpPr txBox="1"/>
          <p:nvPr/>
        </p:nvSpPr>
        <p:spPr>
          <a:xfrm>
            <a:off x="76809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♞</a:t>
            </a:r>
            <a:endParaRPr lang="en-US" sz="2200" dirty="0"/>
          </a:p>
        </p:txBody>
      </p:sp>
      <p:sp>
        <p:nvSpPr>
          <p:cNvPr id="104" name="Text 102"/>
          <p:cNvSpPr txBox="1"/>
          <p:nvPr/>
        </p:nvSpPr>
        <p:spPr>
          <a:xfrm>
            <a:off x="81381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♜</a:t>
            </a:r>
            <a:endParaRPr lang="en-US" sz="2200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97D38BDE-A813-ED74-E33C-1AFEE98614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42900"/>
            <a:ext cx="868680" cy="86868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DF8E947C-B044-B353-4E87-06BFA56D5B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5900" y="34290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9144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dirty="0">
                <a:solidFill>
                  <a:srgbClr val="E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♞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Idea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 Chess Challenge · Hackathon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47548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566160" cy="3108960"/>
          </a:xfrm>
          <a:prstGeom prst="roundRect">
            <a:avLst>
              <a:gd name="adj" fmla="val 2941"/>
            </a:avLst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566160" cy="329184"/>
          </a:xfrm>
          <a:prstGeom prst="roundRect">
            <a:avLst>
              <a:gd name="adj" fmla="val 27778"/>
            </a:avLst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21792" y="1298448"/>
            <a:ext cx="109728" cy="109728"/>
          </a:xfrm>
          <a:prstGeom prst="ellipse">
            <a:avLst/>
          </a:prstGeom>
          <a:solidFill>
            <a:srgbClr val="7BC89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804672" y="1298448"/>
            <a:ext cx="109728" cy="10972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987552" y="1298448"/>
            <a:ext cx="109728" cy="10972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1234440" y="1783080"/>
            <a:ext cx="50292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1737360" y="1783080"/>
            <a:ext cx="502920" cy="50292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2240280" y="1783080"/>
            <a:ext cx="50292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2743200" y="1783080"/>
            <a:ext cx="502920" cy="50292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1234440" y="2286000"/>
            <a:ext cx="502920" cy="50292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1737360" y="2286000"/>
            <a:ext cx="50292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2240280" y="2286000"/>
            <a:ext cx="502920" cy="50292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2743200" y="2286000"/>
            <a:ext cx="50292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1234440" y="2788920"/>
            <a:ext cx="50292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1737360" y="2788920"/>
            <a:ext cx="502920" cy="50292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2240280" y="2788920"/>
            <a:ext cx="50292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2743200" y="2788920"/>
            <a:ext cx="502920" cy="50292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1234440" y="3291840"/>
            <a:ext cx="502920" cy="50292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1737360" y="3291840"/>
            <a:ext cx="50292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240280" y="3291840"/>
            <a:ext cx="502920" cy="502920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2743200" y="3291840"/>
            <a:ext cx="50292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 txBox="1"/>
          <p:nvPr/>
        </p:nvSpPr>
        <p:spPr>
          <a:xfrm>
            <a:off x="12344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♜</a:t>
            </a:r>
            <a:endParaRPr lang="en-US" sz="2600" dirty="0"/>
          </a:p>
        </p:txBody>
      </p:sp>
      <p:sp>
        <p:nvSpPr>
          <p:cNvPr id="29" name="Text 27"/>
          <p:cNvSpPr txBox="1"/>
          <p:nvPr/>
        </p:nvSpPr>
        <p:spPr>
          <a:xfrm>
            <a:off x="224028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♞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173736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♛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274320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♚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3886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chess  →  interactive browser experience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480560" y="11430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chess, reimagined as an interactive browser experience with a GISMA-inspired identity.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4480560" y="214884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 txBox="1"/>
          <p:nvPr/>
        </p:nvSpPr>
        <p:spPr>
          <a:xfrm>
            <a:off x="4590288" y="21488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 Interactive two-player chess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675120" y="214884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 txBox="1"/>
          <p:nvPr/>
        </p:nvSpPr>
        <p:spPr>
          <a:xfrm>
            <a:off x="6784848" y="21488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 Modern GISMA-inspired design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480560" y="292608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 txBox="1"/>
          <p:nvPr/>
        </p:nvSpPr>
        <p:spPr>
          <a:xfrm>
            <a:off x="4590288" y="29260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Player name registration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675120" y="292608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 txBox="1"/>
          <p:nvPr/>
        </p:nvSpPr>
        <p:spPr>
          <a:xfrm>
            <a:off x="6784848" y="29260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Timed gameplay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480560" y="370332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 txBox="1"/>
          <p:nvPr/>
        </p:nvSpPr>
        <p:spPr>
          <a:xfrm>
            <a:off x="4590288" y="37033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 Move history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675120" y="370332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 txBox="1"/>
          <p:nvPr/>
        </p:nvSpPr>
        <p:spPr>
          <a:xfrm>
            <a:off x="6784848" y="37033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Chess rule validation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9144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dirty="0">
                <a:solidFill>
                  <a:srgbClr val="E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♞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Game Works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 Chess Challenge · Hackathon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47548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1371600" cy="2468880"/>
          </a:xfrm>
          <a:prstGeom prst="roundRect">
            <a:avLst>
              <a:gd name="adj" fmla="val 6667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914400" y="1554480"/>
            <a:ext cx="457200" cy="45720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9144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1945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⌨️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8803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enter their names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2377440"/>
            <a:ext cx="342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171700" y="1371600"/>
            <a:ext cx="1371600" cy="2468880"/>
          </a:xfrm>
          <a:prstGeom prst="roundRect">
            <a:avLst>
              <a:gd name="adj" fmla="val 6667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2628900" y="1554480"/>
            <a:ext cx="457200" cy="45720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 txBox="1"/>
          <p:nvPr/>
        </p:nvSpPr>
        <p:spPr>
          <a:xfrm>
            <a:off x="26289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2171700" y="21945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▶️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2263140" y="28803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“Start Game”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43300" y="2377440"/>
            <a:ext cx="342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3886200" y="1371600"/>
            <a:ext cx="1371600" cy="2468880"/>
          </a:xfrm>
          <a:prstGeom prst="roundRect">
            <a:avLst>
              <a:gd name="adj" fmla="val 6667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3886200" y="21945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♟️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28803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Chess board appears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57800" y="2377440"/>
            <a:ext cx="342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5600700" y="1371600"/>
            <a:ext cx="1371600" cy="2468880"/>
          </a:xfrm>
          <a:prstGeom prst="roundRect">
            <a:avLst>
              <a:gd name="adj" fmla="val 6667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6057900" y="1554480"/>
            <a:ext cx="457200" cy="45720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 txBox="1"/>
          <p:nvPr/>
        </p:nvSpPr>
        <p:spPr>
          <a:xfrm>
            <a:off x="60579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600700" y="21945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3200" dirty="0"/>
          </a:p>
        </p:txBody>
      </p:sp>
      <p:sp>
        <p:nvSpPr>
          <p:cNvPr id="29" name="Text 27"/>
          <p:cNvSpPr txBox="1"/>
          <p:nvPr/>
        </p:nvSpPr>
        <p:spPr>
          <a:xfrm>
            <a:off x="5692140" y="28803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make legal moves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72300" y="2377440"/>
            <a:ext cx="3429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7315200" y="1371600"/>
            <a:ext cx="1371600" cy="2468880"/>
          </a:xfrm>
          <a:prstGeom prst="roundRect">
            <a:avLst>
              <a:gd name="adj" fmla="val 6667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7772400" y="1554480"/>
            <a:ext cx="457200" cy="457200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 txBox="1"/>
          <p:nvPr/>
        </p:nvSpPr>
        <p:spPr>
          <a:xfrm>
            <a:off x="77724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0" y="21945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🏁</a:t>
            </a:r>
            <a:endParaRPr lang="en-US" sz="3200" dirty="0"/>
          </a:p>
        </p:txBody>
      </p:sp>
      <p:sp>
        <p:nvSpPr>
          <p:cNvPr id="35" name="Text 33"/>
          <p:cNvSpPr txBox="1"/>
          <p:nvPr/>
        </p:nvSpPr>
        <p:spPr>
          <a:xfrm>
            <a:off x="7406640" y="28803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detects the final result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click to final result in five simple steps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9144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dirty="0">
                <a:solidFill>
                  <a:srgbClr val="E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♞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 Chess Challenge · Hackathon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47548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1554480" cy="1508760"/>
          </a:xfrm>
          <a:prstGeom prst="roundRect">
            <a:avLst>
              <a:gd name="adj" fmla="val 6061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960120" y="1417320"/>
            <a:ext cx="548640" cy="548640"/>
          </a:xfrm>
          <a:prstGeom prst="ellipse">
            <a:avLst/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96012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♟️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8×8 Chess 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125980" y="1280160"/>
            <a:ext cx="1554480" cy="1508760"/>
          </a:xfrm>
          <a:prstGeom prst="roundRect">
            <a:avLst>
              <a:gd name="adj" fmla="val 6061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2628900" y="1417320"/>
            <a:ext cx="548640" cy="548640"/>
          </a:xfrm>
          <a:prstGeom prst="ellipse">
            <a:avLst/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 txBox="1"/>
          <p:nvPr/>
        </p:nvSpPr>
        <p:spPr>
          <a:xfrm>
            <a:off x="262890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2217420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Player Names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794760" y="1280160"/>
            <a:ext cx="1554480" cy="1508760"/>
          </a:xfrm>
          <a:prstGeom prst="roundRect">
            <a:avLst>
              <a:gd name="adj" fmla="val 6061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4297680" y="1417320"/>
            <a:ext cx="548640" cy="548640"/>
          </a:xfrm>
          <a:prstGeom prst="ellipse">
            <a:avLst/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429768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🖱️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3886200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Piece Selection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63540" y="1280160"/>
            <a:ext cx="1554480" cy="1508760"/>
          </a:xfrm>
          <a:prstGeom prst="roundRect">
            <a:avLst>
              <a:gd name="adj" fmla="val 6061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5966460" y="1417320"/>
            <a:ext cx="548640" cy="548640"/>
          </a:xfrm>
          <a:prstGeom prst="ellipse">
            <a:avLst/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 txBox="1"/>
          <p:nvPr/>
        </p:nvSpPr>
        <p:spPr>
          <a:xfrm>
            <a:off x="596646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5554980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Move Validation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132320" y="1280160"/>
            <a:ext cx="1554480" cy="1508760"/>
          </a:xfrm>
          <a:prstGeom prst="roundRect">
            <a:avLst>
              <a:gd name="adj" fmla="val 6061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7635240" y="1417320"/>
            <a:ext cx="548640" cy="548640"/>
          </a:xfrm>
          <a:prstGeom prst="ellipse">
            <a:avLst/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 txBox="1"/>
          <p:nvPr/>
        </p:nvSpPr>
        <p:spPr>
          <a:xfrm>
            <a:off x="76352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7223760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Detection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2971800"/>
            <a:ext cx="1554480" cy="1508760"/>
          </a:xfrm>
          <a:prstGeom prst="roundRect">
            <a:avLst>
              <a:gd name="adj" fmla="val 6061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960120" y="3108960"/>
            <a:ext cx="548640" cy="548640"/>
          </a:xfrm>
          <a:prstGeom prst="ellipse">
            <a:avLst/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96012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37490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Checkmate Detection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125980" y="2971800"/>
            <a:ext cx="1554480" cy="1508760"/>
          </a:xfrm>
          <a:prstGeom prst="roundRect">
            <a:avLst>
              <a:gd name="adj" fmla="val 6061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28900" y="3108960"/>
            <a:ext cx="548640" cy="548640"/>
          </a:xfrm>
          <a:prstGeom prst="ellipse">
            <a:avLst/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 txBox="1"/>
          <p:nvPr/>
        </p:nvSpPr>
        <p:spPr>
          <a:xfrm>
            <a:off x="262890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2217420" y="37490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Stalemate Detection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794760" y="2971800"/>
            <a:ext cx="1554480" cy="1508760"/>
          </a:xfrm>
          <a:prstGeom prst="roundRect">
            <a:avLst>
              <a:gd name="adj" fmla="val 6061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4297680" y="3108960"/>
            <a:ext cx="548640" cy="548640"/>
          </a:xfrm>
          <a:prstGeom prst="ellipse">
            <a:avLst/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 txBox="1"/>
          <p:nvPr/>
        </p:nvSpPr>
        <p:spPr>
          <a:xfrm>
            <a:off x="429768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3886200" y="37490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10-Minute Timer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463540" y="2971800"/>
            <a:ext cx="1554480" cy="1508760"/>
          </a:xfrm>
          <a:prstGeom prst="roundRect">
            <a:avLst>
              <a:gd name="adj" fmla="val 6061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5966460" y="3108960"/>
            <a:ext cx="548640" cy="548640"/>
          </a:xfrm>
          <a:prstGeom prst="ellipse">
            <a:avLst/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 txBox="1"/>
          <p:nvPr/>
        </p:nvSpPr>
        <p:spPr>
          <a:xfrm>
            <a:off x="596646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</a:t>
            </a:r>
            <a:endParaRPr lang="en-US" sz="2200" dirty="0"/>
          </a:p>
        </p:txBody>
      </p:sp>
      <p:sp>
        <p:nvSpPr>
          <p:cNvPr id="42" name="Text 40"/>
          <p:cNvSpPr txBox="1"/>
          <p:nvPr/>
        </p:nvSpPr>
        <p:spPr>
          <a:xfrm>
            <a:off x="5554980" y="37490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History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7132320" y="2971800"/>
            <a:ext cx="1554480" cy="1508760"/>
          </a:xfrm>
          <a:prstGeom prst="roundRect">
            <a:avLst>
              <a:gd name="adj" fmla="val 6061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7635240" y="3108960"/>
            <a:ext cx="548640" cy="548640"/>
          </a:xfrm>
          <a:prstGeom prst="ellipse">
            <a:avLst/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 txBox="1"/>
          <p:nvPr/>
        </p:nvSpPr>
        <p:spPr>
          <a:xfrm>
            <a:off x="763524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200" dirty="0"/>
          </a:p>
        </p:txBody>
      </p:sp>
      <p:sp>
        <p:nvSpPr>
          <p:cNvPr id="46" name="Text 44"/>
          <p:cNvSpPr txBox="1"/>
          <p:nvPr/>
        </p:nvSpPr>
        <p:spPr>
          <a:xfrm>
            <a:off x="7223760" y="37490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Game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9144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dirty="0">
                <a:solidFill>
                  <a:srgbClr val="E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♞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 Chess Challenge · Hackathon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47548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457200" y="118872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468880" y="1188720"/>
            <a:ext cx="6217920" cy="960120"/>
          </a:xfrm>
          <a:prstGeom prst="roundRect">
            <a:avLst>
              <a:gd name="adj" fmla="val 7619"/>
            </a:avLst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2651760" y="1371600"/>
            <a:ext cx="18288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2651760" y="13716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🧱 HTML5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18288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 txBox="1"/>
          <p:nvPr/>
        </p:nvSpPr>
        <p:spPr>
          <a:xfrm>
            <a:off x="4663440" y="13716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CSS3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675120" y="1371600"/>
            <a:ext cx="18288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 txBox="1"/>
          <p:nvPr/>
        </p:nvSpPr>
        <p:spPr>
          <a:xfrm>
            <a:off x="6675120" y="137160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JavaScript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2148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457200" y="237744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Engine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2468880" y="2377440"/>
            <a:ext cx="6217920" cy="960120"/>
          </a:xfrm>
          <a:prstGeom prst="roundRect">
            <a:avLst>
              <a:gd name="adj" fmla="val 7619"/>
            </a:avLst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2651760" y="2560320"/>
            <a:ext cx="585216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 txBox="1"/>
          <p:nvPr/>
        </p:nvSpPr>
        <p:spPr>
          <a:xfrm>
            <a:off x="2651760" y="25603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♟️ JavaScript-based custom chess logic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33375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35661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457200" y="356616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2468880" y="3566160"/>
            <a:ext cx="6217920" cy="960120"/>
          </a:xfrm>
          <a:prstGeom prst="roundRect">
            <a:avLst>
              <a:gd name="adj" fmla="val 7619"/>
            </a:avLst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651760" y="3749040"/>
            <a:ext cx="28346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 txBox="1"/>
          <p:nvPr/>
        </p:nvSpPr>
        <p:spPr>
          <a:xfrm>
            <a:off x="2651760" y="37490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Visual Studio Code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0" y="3749040"/>
            <a:ext cx="28346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5669280" y="37490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Web Browser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9144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dirty="0">
                <a:solidFill>
                  <a:srgbClr val="E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♞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Our Chess Engine Works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 Chess Challenge · Hackathon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47548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1188720" cy="868680"/>
          </a:xfrm>
          <a:prstGeom prst="roundRect">
            <a:avLst>
              <a:gd name="adj" fmla="val 8421"/>
            </a:avLst>
          </a:prstGeom>
          <a:solidFill>
            <a:srgbClr val="0B3D2E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30352" y="1188720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Click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1188720"/>
            <a:ext cx="219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865376" y="1188720"/>
            <a:ext cx="1188720" cy="868680"/>
          </a:xfrm>
          <a:prstGeom prst="roundRect">
            <a:avLst>
              <a:gd name="adj" fmla="val 8421"/>
            </a:avLst>
          </a:prstGeom>
          <a:solidFill>
            <a:srgbClr val="0B3D2E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1938528" y="1188720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 Selection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054096" y="1188720"/>
            <a:ext cx="219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273552" y="1188720"/>
            <a:ext cx="1188720" cy="868680"/>
          </a:xfrm>
          <a:prstGeom prst="roundRect">
            <a:avLst>
              <a:gd name="adj" fmla="val 8421"/>
            </a:avLst>
          </a:prstGeom>
          <a:solidFill>
            <a:srgbClr val="14634A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346704" y="1188720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Move Calculation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188720"/>
            <a:ext cx="219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681728" y="1188720"/>
            <a:ext cx="1188720" cy="868680"/>
          </a:xfrm>
          <a:prstGeom prst="roundRect">
            <a:avLst>
              <a:gd name="adj" fmla="val 8421"/>
            </a:avLst>
          </a:prstGeom>
          <a:solidFill>
            <a:srgbClr val="0B3D2E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4754880" y="1188720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Validation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870448" y="1188720"/>
            <a:ext cx="219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089904" y="1188720"/>
            <a:ext cx="1188720" cy="868680"/>
          </a:xfrm>
          <a:prstGeom prst="roundRect">
            <a:avLst>
              <a:gd name="adj" fmla="val 8421"/>
            </a:avLst>
          </a:prstGeom>
          <a:solidFill>
            <a:srgbClr val="0B3D2E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163056" y="1188720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Update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278624" y="1188720"/>
            <a:ext cx="219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498080" y="1188720"/>
            <a:ext cx="1188720" cy="868680"/>
          </a:xfrm>
          <a:prstGeom prst="roundRect">
            <a:avLst>
              <a:gd name="adj" fmla="val 8421"/>
            </a:avLst>
          </a:prstGeom>
          <a:solidFill>
            <a:srgbClr val="0B3D2E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7571232" y="1188720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State Check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supports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57200" y="2834640"/>
            <a:ext cx="1280160" cy="438912"/>
          </a:xfrm>
          <a:prstGeom prst="roundRect">
            <a:avLst>
              <a:gd name="adj" fmla="val 50000"/>
            </a:avLst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57200" y="283464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Pawn movement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865376" y="2834640"/>
            <a:ext cx="1280160" cy="438912"/>
          </a:xfrm>
          <a:prstGeom prst="roundRect">
            <a:avLst>
              <a:gd name="adj" fmla="val 50000"/>
            </a:avLst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 txBox="1"/>
          <p:nvPr/>
        </p:nvSpPr>
        <p:spPr>
          <a:xfrm>
            <a:off x="1865376" y="283464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Knight movement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73552" y="2834640"/>
            <a:ext cx="1280160" cy="438912"/>
          </a:xfrm>
          <a:prstGeom prst="roundRect">
            <a:avLst>
              <a:gd name="adj" fmla="val 50000"/>
            </a:avLst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 txBox="1"/>
          <p:nvPr/>
        </p:nvSpPr>
        <p:spPr>
          <a:xfrm>
            <a:off x="3273552" y="283464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Bishop movement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681728" y="2834640"/>
            <a:ext cx="1280160" cy="438912"/>
          </a:xfrm>
          <a:prstGeom prst="roundRect">
            <a:avLst>
              <a:gd name="adj" fmla="val 50000"/>
            </a:avLst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4681728" y="283464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Rook movement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089904" y="2834640"/>
            <a:ext cx="1280160" cy="438912"/>
          </a:xfrm>
          <a:prstGeom prst="roundRect">
            <a:avLst>
              <a:gd name="adj" fmla="val 50000"/>
            </a:avLst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6089904" y="283464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Queen movement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498080" y="2834640"/>
            <a:ext cx="1280160" cy="438912"/>
          </a:xfrm>
          <a:prstGeom prst="roundRect">
            <a:avLst>
              <a:gd name="adj" fmla="val 50000"/>
            </a:avLst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7498080" y="283464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 movement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" y="3429000"/>
            <a:ext cx="1280160" cy="438912"/>
          </a:xfrm>
          <a:prstGeom prst="roundRect">
            <a:avLst>
              <a:gd name="adj" fmla="val 50000"/>
            </a:avLst>
          </a:prstGeom>
          <a:solidFill>
            <a:srgbClr val="146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457200" y="342900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Castling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865376" y="3429000"/>
            <a:ext cx="1280160" cy="438912"/>
          </a:xfrm>
          <a:prstGeom prst="roundRect">
            <a:avLst>
              <a:gd name="adj" fmla="val 50000"/>
            </a:avLst>
          </a:prstGeom>
          <a:solidFill>
            <a:srgbClr val="146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1865376" y="342900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passant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273552" y="3429000"/>
            <a:ext cx="1280160" cy="438912"/>
          </a:xfrm>
          <a:prstGeom prst="roundRect">
            <a:avLst>
              <a:gd name="adj" fmla="val 50000"/>
            </a:avLst>
          </a:prstGeom>
          <a:solidFill>
            <a:srgbClr val="146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3273552" y="342900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Pawn promotion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681728" y="3429000"/>
            <a:ext cx="1280160" cy="438912"/>
          </a:xfrm>
          <a:prstGeom prst="roundRect">
            <a:avLst>
              <a:gd name="adj" fmla="val 50000"/>
            </a:avLst>
          </a:prstGeom>
          <a:solidFill>
            <a:srgbClr val="146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 txBox="1"/>
          <p:nvPr/>
        </p:nvSpPr>
        <p:spPr>
          <a:xfrm>
            <a:off x="4681728" y="342900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089904" y="3429000"/>
            <a:ext cx="1280160" cy="438912"/>
          </a:xfrm>
          <a:prstGeom prst="roundRect">
            <a:avLst>
              <a:gd name="adj" fmla="val 50000"/>
            </a:avLst>
          </a:prstGeom>
          <a:solidFill>
            <a:srgbClr val="146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 txBox="1"/>
          <p:nvPr/>
        </p:nvSpPr>
        <p:spPr>
          <a:xfrm>
            <a:off x="6089904" y="342900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Checkmate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498080" y="3429000"/>
            <a:ext cx="1280160" cy="438912"/>
          </a:xfrm>
          <a:prstGeom prst="roundRect">
            <a:avLst>
              <a:gd name="adj" fmla="val 50000"/>
            </a:avLst>
          </a:prstGeom>
          <a:solidFill>
            <a:srgbClr val="146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 txBox="1"/>
          <p:nvPr/>
        </p:nvSpPr>
        <p:spPr>
          <a:xfrm>
            <a:off x="7498080" y="342900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Stalemate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9144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dirty="0">
                <a:solidFill>
                  <a:srgbClr val="E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♞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 Chess Challenge · Hackathon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47548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926080" cy="365760"/>
          </a:xfrm>
          <a:prstGeom prst="roundRect">
            <a:avLst>
              <a:gd name="adj" fmla="val 15000"/>
            </a:avLst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457200" y="1005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37160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57200" y="1517904"/>
            <a:ext cx="2926080" cy="365760"/>
          </a:xfrm>
          <a:prstGeom prst="roundRect">
            <a:avLst>
              <a:gd name="adj" fmla="val 15000"/>
            </a:avLst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457200" y="15179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Screen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883664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57200" y="2029968"/>
            <a:ext cx="2926080" cy="365760"/>
          </a:xfrm>
          <a:prstGeom prst="roundRect">
            <a:avLst>
              <a:gd name="adj" fmla="val 15000"/>
            </a:avLst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457200" y="20299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Names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395728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57200" y="2542032"/>
            <a:ext cx="2926080" cy="365760"/>
          </a:xfrm>
          <a:prstGeom prst="roundRect">
            <a:avLst>
              <a:gd name="adj" fmla="val 15000"/>
            </a:avLst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457200" y="25420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Screen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907792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57200" y="3054096"/>
            <a:ext cx="2926080" cy="365760"/>
          </a:xfrm>
          <a:prstGeom prst="roundRect">
            <a:avLst>
              <a:gd name="adj" fmla="val 15000"/>
            </a:avLst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457200" y="305409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Chess Board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419856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457200" y="3566160"/>
            <a:ext cx="2926080" cy="365760"/>
          </a:xfrm>
          <a:prstGeom prst="roundRect">
            <a:avLst>
              <a:gd name="adj" fmla="val 15000"/>
            </a:avLst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457200" y="3566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Chess Engine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9319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57200" y="4078224"/>
            <a:ext cx="2926080" cy="365760"/>
          </a:xfrm>
          <a:prstGeom prst="roundRect">
            <a:avLst>
              <a:gd name="adj" fmla="val 15000"/>
            </a:avLst>
          </a:prstGeom>
          <a:solidFill>
            <a:srgbClr val="E3F1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57200" y="4078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State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83280" y="3749040"/>
            <a:ext cx="822960" cy="0"/>
          </a:xfrm>
          <a:prstGeom prst="line">
            <a:avLst/>
          </a:prstGeom>
          <a:noFill/>
          <a:ln w="25400">
            <a:solidFill>
              <a:srgbClr val="1463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 txBox="1"/>
          <p:nvPr/>
        </p:nvSpPr>
        <p:spPr>
          <a:xfrm>
            <a:off x="4206240" y="1097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entirely in the browser: HTML · CSS · JavaScript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206240" y="2468880"/>
            <a:ext cx="4480560" cy="1965960"/>
          </a:xfrm>
          <a:prstGeom prst="roundRect">
            <a:avLst>
              <a:gd name="adj" fmla="val 4651"/>
            </a:avLst>
          </a:prstGeom>
          <a:solidFill>
            <a:srgbClr val="F3F5F4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 txBox="1"/>
          <p:nvPr/>
        </p:nvSpPr>
        <p:spPr>
          <a:xfrm>
            <a:off x="4389120" y="254203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engine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389120" y="292608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7BC89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4389120" y="2926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validation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92240" y="292608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7BC89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6492240" y="2926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management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389120" y="338328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7BC89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4389120" y="3383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92240" y="338328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7BC89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6492240" y="3383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detection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389120" y="384048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7BC89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4389120" y="3840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Checkmate detection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492240" y="384048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7BC89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6492240" y="3840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history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9144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dirty="0">
                <a:solidFill>
                  <a:srgbClr val="E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♞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the GISMA Experience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 Chess Challenge · Hackathon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47548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4937760" cy="3383280"/>
          </a:xfrm>
          <a:prstGeom prst="roundRect">
            <a:avLst>
              <a:gd name="adj" fmla="val 2703"/>
            </a:avLst>
          </a:prstGeom>
          <a:solidFill>
            <a:srgbClr val="F3F5F4"/>
          </a:solidFill>
          <a:ln w="12700">
            <a:solidFill>
              <a:srgbClr val="E3F1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457200" y="1097280"/>
            <a:ext cx="4937760" cy="292608"/>
          </a:xfrm>
          <a:prstGeom prst="roundRect">
            <a:avLst>
              <a:gd name="adj" fmla="val 31250"/>
            </a:avLst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21792" y="1188720"/>
            <a:ext cx="109728" cy="109728"/>
          </a:xfrm>
          <a:prstGeom prst="ellipse">
            <a:avLst/>
          </a:prstGeom>
          <a:solidFill>
            <a:srgbClr val="7BC89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804672" y="1188720"/>
            <a:ext cx="109728" cy="10972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987552" y="1188720"/>
            <a:ext cx="109728" cy="10972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731520" y="1600200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1033272" y="1600200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1335024" y="1600200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1636776" y="1600200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1938528" y="1600200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40280" y="1600200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2542032" y="1600200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2843784" y="1600200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731520" y="1901952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1033272" y="1901952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1335024" y="1901952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1636776" y="1901952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1938528" y="1901952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2240280" y="1901952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542032" y="1901952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2843784" y="1901952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731520" y="2203704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1033272" y="2203704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1335024" y="2203704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1636776" y="2203704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1938528" y="2203704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2240280" y="2203704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542032" y="2203704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2843784" y="2203704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731520" y="2505456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1033272" y="2505456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1335024" y="2505456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1636776" y="2505456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1938528" y="2505456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2240280" y="2505456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2542032" y="2505456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Shape 41"/>
          <p:cNvSpPr/>
          <p:nvPr/>
        </p:nvSpPr>
        <p:spPr>
          <a:xfrm>
            <a:off x="2843784" y="2505456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731520" y="2807208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1033272" y="2807208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1335024" y="2807208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1636776" y="2807208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1938528" y="2807208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2240280" y="2807208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2542032" y="2807208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2843784" y="2807208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Shape 50"/>
          <p:cNvSpPr/>
          <p:nvPr/>
        </p:nvSpPr>
        <p:spPr>
          <a:xfrm>
            <a:off x="731520" y="3108960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1033272" y="3108960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Shape 52"/>
          <p:cNvSpPr/>
          <p:nvPr/>
        </p:nvSpPr>
        <p:spPr>
          <a:xfrm>
            <a:off x="1335024" y="3108960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5" name="Shape 53"/>
          <p:cNvSpPr/>
          <p:nvPr/>
        </p:nvSpPr>
        <p:spPr>
          <a:xfrm>
            <a:off x="1636776" y="3108960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Shape 54"/>
          <p:cNvSpPr/>
          <p:nvPr/>
        </p:nvSpPr>
        <p:spPr>
          <a:xfrm>
            <a:off x="1938528" y="3108960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Shape 55"/>
          <p:cNvSpPr/>
          <p:nvPr/>
        </p:nvSpPr>
        <p:spPr>
          <a:xfrm>
            <a:off x="2240280" y="3108960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2542032" y="3108960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2843784" y="3108960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731520" y="3410712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Shape 59"/>
          <p:cNvSpPr/>
          <p:nvPr/>
        </p:nvSpPr>
        <p:spPr>
          <a:xfrm>
            <a:off x="1033272" y="3410712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60"/>
          <p:cNvSpPr/>
          <p:nvPr/>
        </p:nvSpPr>
        <p:spPr>
          <a:xfrm>
            <a:off x="1335024" y="3410712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Shape 61"/>
          <p:cNvSpPr/>
          <p:nvPr/>
        </p:nvSpPr>
        <p:spPr>
          <a:xfrm>
            <a:off x="1636776" y="3410712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Shape 62"/>
          <p:cNvSpPr/>
          <p:nvPr/>
        </p:nvSpPr>
        <p:spPr>
          <a:xfrm>
            <a:off x="1938528" y="3410712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2240280" y="3410712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Shape 64"/>
          <p:cNvSpPr/>
          <p:nvPr/>
        </p:nvSpPr>
        <p:spPr>
          <a:xfrm>
            <a:off x="2542032" y="3410712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7" name="Shape 65"/>
          <p:cNvSpPr/>
          <p:nvPr/>
        </p:nvSpPr>
        <p:spPr>
          <a:xfrm>
            <a:off x="2843784" y="3410712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Shape 66"/>
          <p:cNvSpPr/>
          <p:nvPr/>
        </p:nvSpPr>
        <p:spPr>
          <a:xfrm>
            <a:off x="731520" y="3712464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9" name="Shape 67"/>
          <p:cNvSpPr/>
          <p:nvPr/>
        </p:nvSpPr>
        <p:spPr>
          <a:xfrm>
            <a:off x="1033272" y="3712464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1335024" y="3712464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1636776" y="3712464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Shape 70"/>
          <p:cNvSpPr/>
          <p:nvPr/>
        </p:nvSpPr>
        <p:spPr>
          <a:xfrm>
            <a:off x="1938528" y="3712464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Shape 71"/>
          <p:cNvSpPr/>
          <p:nvPr/>
        </p:nvSpPr>
        <p:spPr>
          <a:xfrm>
            <a:off x="2240280" y="3712464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Shape 72"/>
          <p:cNvSpPr/>
          <p:nvPr/>
        </p:nvSpPr>
        <p:spPr>
          <a:xfrm>
            <a:off x="2542032" y="3712464"/>
            <a:ext cx="301752" cy="301752"/>
          </a:xfrm>
          <a:prstGeom prst="rect">
            <a:avLst/>
          </a:prstGeom>
          <a:solidFill>
            <a:srgbClr val="5FA3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5" name="Shape 73"/>
          <p:cNvSpPr/>
          <p:nvPr/>
        </p:nvSpPr>
        <p:spPr>
          <a:xfrm>
            <a:off x="2843784" y="3712464"/>
            <a:ext cx="301752" cy="301752"/>
          </a:xfrm>
          <a:prstGeom prst="rect">
            <a:avLst/>
          </a:prstGeom>
          <a:solidFill>
            <a:srgbClr val="D9EB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 txBox="1"/>
          <p:nvPr/>
        </p:nvSpPr>
        <p:spPr>
          <a:xfrm>
            <a:off x="731520" y="160020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♜</a:t>
            </a:r>
            <a:endParaRPr lang="en-US" sz="1100" dirty="0"/>
          </a:p>
        </p:txBody>
      </p:sp>
      <p:sp>
        <p:nvSpPr>
          <p:cNvPr id="77" name="Text 75"/>
          <p:cNvSpPr txBox="1"/>
          <p:nvPr/>
        </p:nvSpPr>
        <p:spPr>
          <a:xfrm>
            <a:off x="1033272" y="160020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♞</a:t>
            </a:r>
            <a:endParaRPr lang="en-US" sz="1100" dirty="0"/>
          </a:p>
        </p:txBody>
      </p:sp>
      <p:sp>
        <p:nvSpPr>
          <p:cNvPr id="78" name="Text 76"/>
          <p:cNvSpPr txBox="1"/>
          <p:nvPr/>
        </p:nvSpPr>
        <p:spPr>
          <a:xfrm>
            <a:off x="1335024" y="160020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♝</a:t>
            </a:r>
            <a:endParaRPr lang="en-US" sz="1100" dirty="0"/>
          </a:p>
        </p:txBody>
      </p:sp>
      <p:sp>
        <p:nvSpPr>
          <p:cNvPr id="79" name="Text 77"/>
          <p:cNvSpPr txBox="1"/>
          <p:nvPr/>
        </p:nvSpPr>
        <p:spPr>
          <a:xfrm>
            <a:off x="1636776" y="160020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♛</a:t>
            </a:r>
            <a:endParaRPr lang="en-US" sz="1100" dirty="0"/>
          </a:p>
        </p:txBody>
      </p:sp>
      <p:sp>
        <p:nvSpPr>
          <p:cNvPr id="80" name="Text 78"/>
          <p:cNvSpPr txBox="1"/>
          <p:nvPr/>
        </p:nvSpPr>
        <p:spPr>
          <a:xfrm>
            <a:off x="1938528" y="160020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♚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2240280" y="160020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♝</a:t>
            </a:r>
            <a:endParaRPr lang="en-US" sz="1100" dirty="0"/>
          </a:p>
        </p:txBody>
      </p:sp>
      <p:sp>
        <p:nvSpPr>
          <p:cNvPr id="82" name="Text 80"/>
          <p:cNvSpPr txBox="1"/>
          <p:nvPr/>
        </p:nvSpPr>
        <p:spPr>
          <a:xfrm>
            <a:off x="2542032" y="160020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♞</a:t>
            </a:r>
            <a:endParaRPr lang="en-US" sz="1100" dirty="0"/>
          </a:p>
        </p:txBody>
      </p:sp>
      <p:sp>
        <p:nvSpPr>
          <p:cNvPr id="83" name="Text 81"/>
          <p:cNvSpPr txBox="1"/>
          <p:nvPr/>
        </p:nvSpPr>
        <p:spPr>
          <a:xfrm>
            <a:off x="2843784" y="160020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♜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31520" y="1901952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1100" dirty="0"/>
          </a:p>
        </p:txBody>
      </p:sp>
      <p:sp>
        <p:nvSpPr>
          <p:cNvPr id="85" name="Text 83"/>
          <p:cNvSpPr txBox="1"/>
          <p:nvPr/>
        </p:nvSpPr>
        <p:spPr>
          <a:xfrm>
            <a:off x="1033272" y="1901952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1100" dirty="0"/>
          </a:p>
        </p:txBody>
      </p:sp>
      <p:sp>
        <p:nvSpPr>
          <p:cNvPr id="86" name="Text 84"/>
          <p:cNvSpPr txBox="1"/>
          <p:nvPr/>
        </p:nvSpPr>
        <p:spPr>
          <a:xfrm>
            <a:off x="1335024" y="1901952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1636776" y="1901952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1100" dirty="0"/>
          </a:p>
        </p:txBody>
      </p:sp>
      <p:sp>
        <p:nvSpPr>
          <p:cNvPr id="88" name="Text 86"/>
          <p:cNvSpPr txBox="1"/>
          <p:nvPr/>
        </p:nvSpPr>
        <p:spPr>
          <a:xfrm>
            <a:off x="1938528" y="1901952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1100" dirty="0"/>
          </a:p>
        </p:txBody>
      </p:sp>
      <p:sp>
        <p:nvSpPr>
          <p:cNvPr id="89" name="Text 87"/>
          <p:cNvSpPr txBox="1"/>
          <p:nvPr/>
        </p:nvSpPr>
        <p:spPr>
          <a:xfrm>
            <a:off x="2240280" y="1901952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2542032" y="1901952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1100" dirty="0"/>
          </a:p>
        </p:txBody>
      </p:sp>
      <p:sp>
        <p:nvSpPr>
          <p:cNvPr id="91" name="Text 89"/>
          <p:cNvSpPr txBox="1"/>
          <p:nvPr/>
        </p:nvSpPr>
        <p:spPr>
          <a:xfrm>
            <a:off x="2843784" y="1901952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1100" dirty="0"/>
          </a:p>
        </p:txBody>
      </p:sp>
      <p:sp>
        <p:nvSpPr>
          <p:cNvPr id="92" name="Text 90"/>
          <p:cNvSpPr txBox="1"/>
          <p:nvPr/>
        </p:nvSpPr>
        <p:spPr>
          <a:xfrm>
            <a:off x="731520" y="3410712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1033272" y="3410712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1100" dirty="0"/>
          </a:p>
        </p:txBody>
      </p:sp>
      <p:sp>
        <p:nvSpPr>
          <p:cNvPr id="94" name="Text 92"/>
          <p:cNvSpPr txBox="1"/>
          <p:nvPr/>
        </p:nvSpPr>
        <p:spPr>
          <a:xfrm>
            <a:off x="1335024" y="3410712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1100" dirty="0"/>
          </a:p>
        </p:txBody>
      </p:sp>
      <p:sp>
        <p:nvSpPr>
          <p:cNvPr id="95" name="Text 93"/>
          <p:cNvSpPr txBox="1"/>
          <p:nvPr/>
        </p:nvSpPr>
        <p:spPr>
          <a:xfrm>
            <a:off x="1636776" y="3410712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1100" dirty="0"/>
          </a:p>
        </p:txBody>
      </p:sp>
      <p:sp>
        <p:nvSpPr>
          <p:cNvPr id="96" name="Text 94"/>
          <p:cNvSpPr txBox="1"/>
          <p:nvPr/>
        </p:nvSpPr>
        <p:spPr>
          <a:xfrm>
            <a:off x="1938528" y="3410712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2240280" y="3410712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1100" dirty="0"/>
          </a:p>
        </p:txBody>
      </p:sp>
      <p:sp>
        <p:nvSpPr>
          <p:cNvPr id="98" name="Text 96"/>
          <p:cNvSpPr txBox="1"/>
          <p:nvPr/>
        </p:nvSpPr>
        <p:spPr>
          <a:xfrm>
            <a:off x="2542032" y="3410712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1100" dirty="0"/>
          </a:p>
        </p:txBody>
      </p:sp>
      <p:sp>
        <p:nvSpPr>
          <p:cNvPr id="99" name="Text 97"/>
          <p:cNvSpPr txBox="1"/>
          <p:nvPr/>
        </p:nvSpPr>
        <p:spPr>
          <a:xfrm>
            <a:off x="2843784" y="3410712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1100" dirty="0"/>
          </a:p>
        </p:txBody>
      </p:sp>
      <p:sp>
        <p:nvSpPr>
          <p:cNvPr id="100" name="Text 98"/>
          <p:cNvSpPr txBox="1"/>
          <p:nvPr/>
        </p:nvSpPr>
        <p:spPr>
          <a:xfrm>
            <a:off x="731520" y="3712464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♜</a:t>
            </a:r>
            <a:endParaRPr lang="en-US" sz="1100" dirty="0"/>
          </a:p>
        </p:txBody>
      </p:sp>
      <p:sp>
        <p:nvSpPr>
          <p:cNvPr id="101" name="Text 99"/>
          <p:cNvSpPr txBox="1"/>
          <p:nvPr/>
        </p:nvSpPr>
        <p:spPr>
          <a:xfrm>
            <a:off x="1033272" y="3712464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♞</a:t>
            </a:r>
            <a:endParaRPr lang="en-US" sz="1100" dirty="0"/>
          </a:p>
        </p:txBody>
      </p:sp>
      <p:sp>
        <p:nvSpPr>
          <p:cNvPr id="102" name="Text 100"/>
          <p:cNvSpPr txBox="1"/>
          <p:nvPr/>
        </p:nvSpPr>
        <p:spPr>
          <a:xfrm>
            <a:off x="1335024" y="3712464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♝</a:t>
            </a:r>
            <a:endParaRPr lang="en-US" sz="1100" dirty="0"/>
          </a:p>
        </p:txBody>
      </p:sp>
      <p:sp>
        <p:nvSpPr>
          <p:cNvPr id="103" name="Text 101"/>
          <p:cNvSpPr txBox="1"/>
          <p:nvPr/>
        </p:nvSpPr>
        <p:spPr>
          <a:xfrm>
            <a:off x="1636776" y="3712464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♛</a:t>
            </a:r>
            <a:endParaRPr lang="en-US" sz="1100" dirty="0"/>
          </a:p>
        </p:txBody>
      </p:sp>
      <p:sp>
        <p:nvSpPr>
          <p:cNvPr id="104" name="Text 102"/>
          <p:cNvSpPr txBox="1"/>
          <p:nvPr/>
        </p:nvSpPr>
        <p:spPr>
          <a:xfrm>
            <a:off x="1938528" y="3712464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♚</a:t>
            </a:r>
            <a:endParaRPr lang="en-US" sz="1100" dirty="0"/>
          </a:p>
        </p:txBody>
      </p:sp>
      <p:sp>
        <p:nvSpPr>
          <p:cNvPr id="105" name="Text 103"/>
          <p:cNvSpPr txBox="1"/>
          <p:nvPr/>
        </p:nvSpPr>
        <p:spPr>
          <a:xfrm>
            <a:off x="2240280" y="3712464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♝</a:t>
            </a:r>
            <a:endParaRPr lang="en-US" sz="1100" dirty="0"/>
          </a:p>
        </p:txBody>
      </p:sp>
      <p:sp>
        <p:nvSpPr>
          <p:cNvPr id="106" name="Text 104"/>
          <p:cNvSpPr txBox="1"/>
          <p:nvPr/>
        </p:nvSpPr>
        <p:spPr>
          <a:xfrm>
            <a:off x="2542032" y="3712464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♞</a:t>
            </a:r>
            <a:endParaRPr lang="en-US" sz="1100" dirty="0"/>
          </a:p>
        </p:txBody>
      </p:sp>
      <p:sp>
        <p:nvSpPr>
          <p:cNvPr id="107" name="Text 105"/>
          <p:cNvSpPr txBox="1"/>
          <p:nvPr/>
        </p:nvSpPr>
        <p:spPr>
          <a:xfrm>
            <a:off x="2843784" y="3712464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n w="12700">
                  <a:solidFill>
                    <a:srgbClr val="08261C"/>
                  </a:solidFill>
                </a:ln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♜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3291840" y="1600200"/>
            <a:ext cx="1920240" cy="457200"/>
          </a:xfrm>
          <a:prstGeom prst="roundRect">
            <a:avLst>
              <a:gd name="adj" fmla="val 12000"/>
            </a:avLst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 txBox="1"/>
          <p:nvPr/>
        </p:nvSpPr>
        <p:spPr>
          <a:xfrm>
            <a:off x="3291840" y="1600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2      10:00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3291840" y="2194560"/>
            <a:ext cx="19202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3F1E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 txBox="1"/>
          <p:nvPr/>
        </p:nvSpPr>
        <p:spPr>
          <a:xfrm>
            <a:off x="3383280" y="2240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History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429000" y="2606040"/>
            <a:ext cx="1645920" cy="109728"/>
          </a:xfrm>
          <a:prstGeom prst="rect">
            <a:avLst/>
          </a:prstGeom>
          <a:solidFill>
            <a:srgbClr val="D5DC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Shape 111"/>
          <p:cNvSpPr/>
          <p:nvPr/>
        </p:nvSpPr>
        <p:spPr>
          <a:xfrm>
            <a:off x="3429000" y="2852928"/>
            <a:ext cx="1645920" cy="109728"/>
          </a:xfrm>
          <a:prstGeom prst="rect">
            <a:avLst/>
          </a:prstGeom>
          <a:solidFill>
            <a:srgbClr val="D5DC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Shape 112"/>
          <p:cNvSpPr/>
          <p:nvPr/>
        </p:nvSpPr>
        <p:spPr>
          <a:xfrm>
            <a:off x="3429000" y="3099816"/>
            <a:ext cx="1645920" cy="109728"/>
          </a:xfrm>
          <a:prstGeom prst="rect">
            <a:avLst/>
          </a:prstGeom>
          <a:solidFill>
            <a:srgbClr val="D5DCD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3291840" y="3520440"/>
            <a:ext cx="1920240" cy="457200"/>
          </a:xfrm>
          <a:prstGeom prst="roundRect">
            <a:avLst>
              <a:gd name="adj" fmla="val 12000"/>
            </a:avLst>
          </a:prstGeom>
          <a:solidFill>
            <a:srgbClr val="146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 txBox="1"/>
          <p:nvPr/>
        </p:nvSpPr>
        <p:spPr>
          <a:xfrm>
            <a:off x="3291840" y="3520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1      10:00</a:t>
            </a:r>
            <a:endParaRPr lang="en-US" sz="1100" dirty="0"/>
          </a:p>
        </p:txBody>
      </p:sp>
      <p:sp>
        <p:nvSpPr>
          <p:cNvPr id="117" name="Text 115"/>
          <p:cNvSpPr txBox="1"/>
          <p:nvPr/>
        </p:nvSpPr>
        <p:spPr>
          <a:xfrm>
            <a:off x="457200" y="4114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Replace with game screenshot ]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5760720" y="1234440"/>
            <a:ext cx="347472" cy="347472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 txBox="1"/>
          <p:nvPr/>
        </p:nvSpPr>
        <p:spPr>
          <a:xfrm>
            <a:off x="5760720" y="1234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63640" y="118872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GISMA-inspired green theme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5760720" y="1783080"/>
            <a:ext cx="347472" cy="347472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20"/>
          <p:cNvSpPr txBox="1"/>
          <p:nvPr/>
        </p:nvSpPr>
        <p:spPr>
          <a:xfrm>
            <a:off x="5760720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6263640" y="173736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contrast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5760720" y="2331720"/>
            <a:ext cx="347472" cy="347472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 txBox="1"/>
          <p:nvPr/>
        </p:nvSpPr>
        <p:spPr>
          <a:xfrm>
            <a:off x="576072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63640" y="22860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 logo integration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5760720" y="2880360"/>
            <a:ext cx="347472" cy="347472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Text 126"/>
          <p:cNvSpPr txBox="1"/>
          <p:nvPr/>
        </p:nvSpPr>
        <p:spPr>
          <a:xfrm>
            <a:off x="5760720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6263640" y="283464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cards and buttons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5760720" y="3429000"/>
            <a:ext cx="347472" cy="347472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9"/>
          <p:cNvSpPr txBox="1"/>
          <p:nvPr/>
        </p:nvSpPr>
        <p:spPr>
          <a:xfrm>
            <a:off x="5760720" y="3429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63640" y="338328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Chess-inspired interface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5760720" y="3977640"/>
            <a:ext cx="347472" cy="347472"/>
          </a:xfrm>
          <a:prstGeom prst="ellipse">
            <a:avLst/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Text 132"/>
          <p:cNvSpPr txBox="1"/>
          <p:nvPr/>
        </p:nvSpPr>
        <p:spPr>
          <a:xfrm>
            <a:off x="5760720" y="3977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6263640" y="393192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and responsive layout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9144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dirty="0">
                <a:solidFill>
                  <a:srgbClr val="E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♞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Solutions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 Chess Challenge · Hackathon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47548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B7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960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6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F3F5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640080" y="13716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Implementing chess rules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13716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BC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029200" y="137160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 txBox="1"/>
          <p:nvPr/>
        </p:nvSpPr>
        <p:spPr>
          <a:xfrm>
            <a:off x="5212080" y="13716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JavaScript functions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2029968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F3F5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 txBox="1"/>
          <p:nvPr/>
        </p:nvSpPr>
        <p:spPr>
          <a:xfrm>
            <a:off x="640080" y="202996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game state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20299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BC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29200" y="2029968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5212080" y="202996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represented as a 2D array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2688336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F3F5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" y="268833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Validating legal moves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114800" y="268833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BC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029200" y="2688336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5212080" y="268833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move calculation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3346704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F3F5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 txBox="1"/>
          <p:nvPr/>
        </p:nvSpPr>
        <p:spPr>
          <a:xfrm>
            <a:off x="640080" y="334670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a smooth start-game experience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114800" y="334670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BC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029200" y="3346704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 txBox="1"/>
          <p:nvPr/>
        </p:nvSpPr>
        <p:spPr>
          <a:xfrm>
            <a:off x="5212080" y="334670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game-state management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57200" y="4005072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F3F5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 txBox="1"/>
          <p:nvPr/>
        </p:nvSpPr>
        <p:spPr>
          <a:xfrm>
            <a:off x="640080" y="400507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timers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4114800" y="400507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BC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029200" y="4005072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0B3D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 txBox="1"/>
          <p:nvPr/>
        </p:nvSpPr>
        <p:spPr>
          <a:xfrm>
            <a:off x="5212080" y="400507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timer system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What’s Next? 🚀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146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1005840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Chess Opponent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60320" y="1005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146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2651760" y="100584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127248" y="1005840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Multiplayer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05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146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4754880" y="100584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230368" y="1005840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Leaderboards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766560" y="1005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146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 txBox="1"/>
          <p:nvPr/>
        </p:nvSpPr>
        <p:spPr>
          <a:xfrm>
            <a:off x="6858000" y="100584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333488" y="1005840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&amp; Load Games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19202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146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48640" y="192024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1920240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Statistics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560320" y="19202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146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 txBox="1"/>
          <p:nvPr/>
        </p:nvSpPr>
        <p:spPr>
          <a:xfrm>
            <a:off x="2651760" y="192024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🔊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3127248" y="1920240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Chess Sound Effects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19202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146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 txBox="1"/>
          <p:nvPr/>
        </p:nvSpPr>
        <p:spPr>
          <a:xfrm>
            <a:off x="4754880" y="192024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5230368" y="1920240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Mobile Experience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766560" y="19202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146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 txBox="1"/>
          <p:nvPr/>
        </p:nvSpPr>
        <p:spPr>
          <a:xfrm>
            <a:off x="6858000" y="192024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7333488" y="1920240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Themes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29718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THINK. PLAY. CONQUER.</a:t>
            </a:r>
            <a:endParaRPr lang="en-US" sz="38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886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7BC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♟️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7223760" y="4754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200" dirty="0">
                <a:solidFill>
                  <a:srgbClr val="7BC8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GISMA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556</Words>
  <Application>Microsoft Office PowerPoint</Application>
  <PresentationFormat>On-screen Show (16:9)</PresentationFormat>
  <Paragraphs>282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196400307058</cp:lastModifiedBy>
  <cp:revision>2</cp:revision>
  <dcterms:created xsi:type="dcterms:W3CDTF">2026-09-24T13:35:50Z</dcterms:created>
  <dcterms:modified xsi:type="dcterms:W3CDTF">2026-09-24T13:47:19Z</dcterms:modified>
</cp:coreProperties>
</file>